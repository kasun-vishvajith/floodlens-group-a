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6317625a5fb452c" /><Relationship Type="http://schemas.openxmlformats.org/officeDocument/2006/relationships/extended-properties" Target="/docProps/app.xml" Id="R16641acd457d42ba" /><Relationship Type="http://schemas.openxmlformats.org/officeDocument/2006/relationships/officeDocument" Target="/ppt/presentation.xml" Id="R54ea1251a4f8401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a1da5cb2812415e"/>
  </p:sldMasterIdLst>
  <p:notesMasterIdLst>
    <p:notesMasterId xmlns:r="http://schemas.openxmlformats.org/officeDocument/2006/relationships" r:id="R64bc6475006745e8"/>
  </p:notesMasterIdLst>
  <p:sldIdLst>
    <p:sldId xmlns:r="http://schemas.openxmlformats.org/officeDocument/2006/relationships" id="256" r:id="R371a9fd5e8b241b6"/>
    <p:sldId xmlns:r="http://schemas.openxmlformats.org/officeDocument/2006/relationships" id="257" r:id="Re9f149c3981f4f51"/>
    <p:sldId xmlns:r="http://schemas.openxmlformats.org/officeDocument/2006/relationships" id="258" r:id="Rc5b7f8afb8074e1c"/>
    <p:sldId xmlns:r="http://schemas.openxmlformats.org/officeDocument/2006/relationships" id="259" r:id="R4dacc433889344c8"/>
    <p:sldId xmlns:r="http://schemas.openxmlformats.org/officeDocument/2006/relationships" id="260" r:id="R6e2879bafb7a4982"/>
    <p:sldId xmlns:r="http://schemas.openxmlformats.org/officeDocument/2006/relationships" id="261" r:id="R6f20f7d9cbb54abe"/>
    <p:sldId xmlns:r="http://schemas.openxmlformats.org/officeDocument/2006/relationships" id="262" r:id="R5ab54e979fe64c19"/>
    <p:sldId xmlns:r="http://schemas.openxmlformats.org/officeDocument/2006/relationships" id="263" r:id="R8e10ff83d4914638"/>
    <p:sldId xmlns:r="http://schemas.openxmlformats.org/officeDocument/2006/relationships" id="264" r:id="R593788f03b614781"/>
    <p:sldId xmlns:r="http://schemas.openxmlformats.org/officeDocument/2006/relationships" id="265" r:id="Ra9033bce8cc8450c"/>
    <p:sldId xmlns:r="http://schemas.openxmlformats.org/officeDocument/2006/relationships" id="266" r:id="R02ea48d4f2314f9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e2297a232f43ea" /><Relationship Type="http://schemas.openxmlformats.org/officeDocument/2006/relationships/slideMaster" Target="/ppt/slideMasters/slideMaster1.xml" Id="Rda1da5cb2812415e" /><Relationship Type="http://schemas.openxmlformats.org/officeDocument/2006/relationships/notesMaster" Target="/ppt/notesMasters/notesMaster1.xml" Id="R64bc6475006745e8" /><Relationship Type="http://schemas.openxmlformats.org/officeDocument/2006/relationships/presProps" Target="/ppt/presProps.xml" Id="R5287f7286a5a4f0d" /><Relationship Type="http://schemas.openxmlformats.org/officeDocument/2006/relationships/tableStyles" Target="/ppt/tableStyles.xml" Id="R86a8ed5ff6824a98" /><Relationship Type="http://schemas.openxmlformats.org/officeDocument/2006/relationships/slide" Target="/ppt/slides/slide1.xml" Id="R371a9fd5e8b241b6" /><Relationship Type="http://schemas.openxmlformats.org/officeDocument/2006/relationships/slide" Target="/ppt/slides/slide2.xml" Id="Re9f149c3981f4f51" /><Relationship Type="http://schemas.openxmlformats.org/officeDocument/2006/relationships/slide" Target="/ppt/slides/slide3.xml" Id="Rc5b7f8afb8074e1c" /><Relationship Type="http://schemas.openxmlformats.org/officeDocument/2006/relationships/slide" Target="/ppt/slides/slide4.xml" Id="R4dacc433889344c8" /><Relationship Type="http://schemas.openxmlformats.org/officeDocument/2006/relationships/slide" Target="/ppt/slides/slide5.xml" Id="R6e2879bafb7a4982" /><Relationship Type="http://schemas.openxmlformats.org/officeDocument/2006/relationships/slide" Target="/ppt/slides/slide6.xml" Id="R6f20f7d9cbb54abe" /><Relationship Type="http://schemas.openxmlformats.org/officeDocument/2006/relationships/slide" Target="/ppt/slides/slide7.xml" Id="R5ab54e979fe64c19" /><Relationship Type="http://schemas.openxmlformats.org/officeDocument/2006/relationships/slide" Target="/ppt/slides/slide8.xml" Id="R8e10ff83d4914638" /><Relationship Type="http://schemas.openxmlformats.org/officeDocument/2006/relationships/slide" Target="/ppt/slides/slide9.xml" Id="R593788f03b614781" /><Relationship Type="http://schemas.openxmlformats.org/officeDocument/2006/relationships/slide" Target="/ppt/slides/slide10.xml" Id="Ra9033bce8cc8450c" /><Relationship Type="http://schemas.openxmlformats.org/officeDocument/2006/relationships/slide" Target="/ppt/slides/slide11.xml" Id="R02ea48d4f2314f9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e9eb30b6c5403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3818e71b66446b1" /><Relationship Type="http://schemas.openxmlformats.org/officeDocument/2006/relationships/notesMaster" Target="/ppt/notesMasters/notesMaster1.xml" Id="R6b4c134f42f04dd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425b84461bc4f21" /><Relationship Type="http://schemas.openxmlformats.org/officeDocument/2006/relationships/notesMaster" Target="/ppt/notesMasters/notesMaster1.xml" Id="R1dbed50bf371427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91f4d0b257e418a" /><Relationship Type="http://schemas.openxmlformats.org/officeDocument/2006/relationships/notesMaster" Target="/ppt/notesMasters/notesMaster1.xml" Id="Rc662f6b6101b42e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118a5dcd9ff40ba" /><Relationship Type="http://schemas.openxmlformats.org/officeDocument/2006/relationships/notesMaster" Target="/ppt/notesMasters/notesMaster1.xml" Id="R0a6bbe4054434a5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8dc712ae42b4822" /><Relationship Type="http://schemas.openxmlformats.org/officeDocument/2006/relationships/notesMaster" Target="/ppt/notesMasters/notesMaster1.xml" Id="Rdddac0fa4bdb406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ee79ac2e2cd4369" /><Relationship Type="http://schemas.openxmlformats.org/officeDocument/2006/relationships/notesMaster" Target="/ppt/notesMasters/notesMaster1.xml" Id="R19ddb25d317d42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42fd05092334466" /><Relationship Type="http://schemas.openxmlformats.org/officeDocument/2006/relationships/notesMaster" Target="/ppt/notesMasters/notesMaster1.xml" Id="R86abab1aaeb9486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29631e26547490c" /><Relationship Type="http://schemas.openxmlformats.org/officeDocument/2006/relationships/notesMaster" Target="/ppt/notesMasters/notesMaster1.xml" Id="R5f89d18ab1234c3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dcb0a232dd44d4b" /><Relationship Type="http://schemas.openxmlformats.org/officeDocument/2006/relationships/notesMaster" Target="/ppt/notesMasters/notesMaster1.xml" Id="Raabc4cc262f746a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63d414d57144287" /><Relationship Type="http://schemas.openxmlformats.org/officeDocument/2006/relationships/notesMaster" Target="/ppt/notesMasters/notesMaster1.xml" Id="Rcef5021b49dc40e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0b13a6eefa6438d" /><Relationship Type="http://schemas.openxmlformats.org/officeDocument/2006/relationships/notesMaster" Target="/ppt/notesMasters/notesMaster1.xml" Id="Rb689136a755d41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Release dataset: 2016-01-01 through 2026-09-09; release date 2026-09-10. Explain point sampling, source transitions and the distinction between provider forecasts and confirmed flood events. Open-Meteo does not expose 2/5/20-year return-period thresholds. Historical percentile screening is an explicit alternative. Cloud provisioning and Databricks execution require the team accounts; do not claim those runs as completed. The project fits no forecasting model. The baseline is 2016–2020; source changes can affect comparisons.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Course brief: DS 4004 Group Project 2026, supplied PDF, pages 1–2.</a:t>
            </a:r>
          </a:p>
          <a:p xmlns:a="http://schemas.openxmlformats.org/drawingml/2006/main">
            <a:r>
              <a:t>https://open-meteo.com/en/docs/historical-weather-api</a:t>
            </a:r>
          </a:p>
          <a:p xmlns:a="http://schemas.openxmlformats.org/drawingml/2006/main">
            <a:r>
              <a:t>https://open-meteo.com/en/docs/flood-api</a:t>
            </a:r>
          </a:p>
          <a:p xmlns:a="http://schemas.openxmlformats.org/drawingml/2006/main">
            <a:r>
              <a:t>https://open-meteo.com/en/docs</a:t>
            </a:r>
          </a:p>
          <a:p xmlns:a="http://schemas.openxmlformats.org/drawingml/2006/main">
            <a:r>
              <a:t>https://www.geoboundaries.org/api/current/gbOpen/LKA/ADM2/</a:t>
            </a:r>
          </a:p>
          <a:p xmlns:a="http://schemas.openxmlformats.org/drawingml/2006/main">
            <a:r>
              <a:t>Computed release evidence: dist/data/summary.json; dist/data/current.json; docs/presentation-facts.json.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11387e714b4429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8d4e7a3763845e0" /><Relationship Type="http://schemas.openxmlformats.org/officeDocument/2006/relationships/slideLayout" Target="/ppt/slideLayouts/slideLayout1.xml" Id="R0bf2c9c6e8c24ec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f2c9c6e8c24ec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fb724eb5ff4a2c" /><Relationship Type="http://schemas.openxmlformats.org/officeDocument/2006/relationships/notesSlide" Target="/ppt/notesSlides/notesSlide1.xml" Id="R6d458469ba864d79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da571d7d6440f6" /><Relationship Type="http://schemas.openxmlformats.org/officeDocument/2006/relationships/notesSlide" Target="/ppt/notesSlides/notesSlide2.xml" Id="R872a0a833f354d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9e03b9b6304a93" /><Relationship Type="http://schemas.openxmlformats.org/officeDocument/2006/relationships/notesSlide" Target="/ppt/notesSlides/notesSlide3.xml" Id="Rc01f6d57fe13402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2a28e0686479b" /><Relationship Type="http://schemas.openxmlformats.org/officeDocument/2006/relationships/image" Target="/ppt/media/image.png" Id="R03d28e9c0e584b9b" /><Relationship Type="http://schemas.openxmlformats.org/officeDocument/2006/relationships/notesSlide" Target="/ppt/notesSlides/notesSlide4.xml" Id="R96e65e7826ef490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abea91fbca48ea" /><Relationship Type="http://schemas.openxmlformats.org/officeDocument/2006/relationships/notesSlide" Target="/ppt/notesSlides/notesSlide5.xml" Id="Rb0bb0d3b48d84f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ec381fb9904525" /><Relationship Type="http://schemas.openxmlformats.org/officeDocument/2006/relationships/image" Target="/ppt/media/image2.png" Id="Rb7d111e6f274496f" /><Relationship Type="http://schemas.openxmlformats.org/officeDocument/2006/relationships/notesSlide" Target="/ppt/notesSlides/notesSlide6.xml" Id="Rbee886b4960d418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144177ff6e4279" /><Relationship Type="http://schemas.openxmlformats.org/officeDocument/2006/relationships/notesSlide" Target="/ppt/notesSlides/notesSlide7.xml" Id="R3b74889c049049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485c43922d467d" /><Relationship Type="http://schemas.openxmlformats.org/officeDocument/2006/relationships/image" Target="/ppt/media/image3.png" Id="Re8efcf674c6747ca" /><Relationship Type="http://schemas.openxmlformats.org/officeDocument/2006/relationships/notesSlide" Target="/ppt/notesSlides/notesSlide8.xml" Id="Rb554139a6f8544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163354a3b14b41" /><Relationship Type="http://schemas.openxmlformats.org/officeDocument/2006/relationships/image" Target="/ppt/media/image4.png" Id="R066b0453ddcc4593" /><Relationship Type="http://schemas.openxmlformats.org/officeDocument/2006/relationships/notesSlide" Target="/ppt/notesSlides/notesSlide9.xml" Id="R48ca3d4d7a754f0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3ff92459544c5" /><Relationship Type="http://schemas.openxmlformats.org/officeDocument/2006/relationships/notesSlide" Target="/ppt/notesSlides/notesSlide10.xml" Id="Rfcc57b601399413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9d29df08eab4e85" /><Relationship Type="http://schemas.openxmlformats.org/officeDocument/2006/relationships/notesSlide" Target="/ppt/notesSlides/notesSlide11.xml" Id="R60a0326577d74cd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DS 4004  /  GROUP PROJECT 2026">
            <a:extLst xmlns:a="http://schemas.openxmlformats.org/drawingml/2006/main">
              <a:ext uri="{FF2B5EF4-FFF2-40B4-BE49-F238E27FC236}">
                <a16:creationId xmlns:a16="http://schemas.microsoft.com/office/drawing/2014/main" id="{9EB1A3E7-C3E1-4633-8DC8-5CF3FD924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83"/>
                </a:solidFill>
              </a:defRPr>
            </a:pPr>
            <a:r>
              <a:rPr sz="1800" b="1">
                <a:solidFill>
                  <a:srgbClr val="087F83"/>
                </a:solidFill>
              </a:rPr>
              <a:t>DS 4004  /  GROUP A  /  2026</a:t>
            </a:r>
          </a:p>
        </p:txBody>
      </p:sp>
      <p:sp>
        <p:nvSpPr>
          <p:cNvPr id="2" name="FloodLens&#10;Sri Lanka">
            <a:extLst xmlns:a="http://schemas.openxmlformats.org/drawingml/2006/main">
              <a:ext uri="{FF2B5EF4-FFF2-40B4-BE49-F238E27FC236}">
                <a16:creationId xmlns:a16="http://schemas.microsoft.com/office/drawing/2014/main" id="{B1EC995A-662B-4C7A-8524-037CE65FD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10477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6600" b="1">
                <a:solidFill>
                  <a:srgbClr val="112D40"/>
                </a:solidFill>
              </a:defRPr>
            </a:pPr>
            <a:r>
              <a:rPr sz="6600" b="1">
                <a:solidFill>
                  <a:srgbClr val="112D40"/>
                </a:solidFill>
              </a:rPr>
              <a:t>FloodLens</a:t>
            </a:r>
          </a:p>
          <a:p xmlns:a="http://schemas.openxmlformats.org/drawingml/2006/main">
            <a:pPr>
              <a:buNone/>
              <a:defRPr sz="6600" b="1">
                <a:solidFill>
                  <a:srgbClr val="112D40"/>
                </a:solidFill>
              </a:defRPr>
            </a:pPr>
            <a:r>
              <a:rPr sz="6600" b="1">
                <a:solidFill>
                  <a:srgbClr val="112D40"/>
                </a:solidFill>
              </a:rPr>
              <a:t>Sri Lanka</a:t>
            </a:r>
          </a:p>
        </p:txBody>
      </p:sp>
      <p:sp>
        <p:nvSpPr>
          <p:cNvPr id="3" name="Flood and extreme weather analytics&#10;Real data">
            <a:extLst xmlns:a="http://schemas.openxmlformats.org/drawingml/2006/main">
              <a:ext uri="{FF2B5EF4-FFF2-40B4-BE49-F238E27FC236}">
                <a16:creationId xmlns:a16="http://schemas.microsoft.com/office/drawing/2014/main" id="{87578850-E0B2-4EED-97AF-0613AC8DF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57750"/>
            <a:ext cx="1028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526878"/>
                </a:solidFill>
              </a:defRPr>
            </a:pPr>
            <a:r>
              <a:rPr sz="2250" b="0">
                <a:solidFill>
                  <a:srgbClr val="526878"/>
                </a:solidFill>
              </a:rPr>
              <a:t>Flood and extreme weather analytics</a:t>
            </a:r>
          </a:p>
          <a:p xmlns:a="http://schemas.openxmlformats.org/drawingml/2006/main">
            <a:pPr>
              <a:buNone/>
              <a:defRPr sz="2250" b="0">
                <a:solidFill>
                  <a:srgbClr val="526878"/>
                </a:solidFill>
              </a:defRPr>
            </a:pPr>
            <a:r>
              <a:rPr sz="2250" b="0">
                <a:solidFill>
                  <a:srgbClr val="526878"/>
                </a:solidFill>
              </a:rPr>
              <a:t>Historical evidence and API forecasts.</a:t>
            </a:r>
          </a:p>
        </p:txBody>
      </p:sp>
    </p:spTree>
    <p:extLst>
      <p:ext uri="{BB962C8B-B14F-4D97-AF65-F5344CB8AC3E}">
        <p14:creationId xmlns:p14="http://schemas.microsoft.com/office/powerpoint/2010/main" val="148795758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A national view built from monitored points">
            <a:extLst xmlns:a="http://schemas.openxmlformats.org/drawingml/2006/main">
              <a:ext uri="{FF2B5EF4-FFF2-40B4-BE49-F238E27FC236}">
                <a16:creationId xmlns:a16="http://schemas.microsoft.com/office/drawing/2014/main" id="{CD0B8FF6-0874-432E-A124-921FD04B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A national view built from monitored points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37AAD863-DECF-4074-8C2C-BE28349A4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2">
            <a:extLst xmlns:a="http://schemas.openxmlformats.org/drawingml/2006/main">
              <a:ext uri="{FF2B5EF4-FFF2-40B4-BE49-F238E27FC236}">
                <a16:creationId xmlns:a16="http://schemas.microsoft.com/office/drawing/2014/main" id="{1124A951-82A0-45E6-86DD-70C8AD71B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02</a:t>
            </a:r>
          </a:p>
        </p:txBody>
      </p:sp>
      <p:sp>
        <p:nvSpPr>
          <p:cNvPr id="4" name="1.66 million">
            <a:extLst xmlns:a="http://schemas.openxmlformats.org/drawingml/2006/main">
              <a:ext uri="{FF2B5EF4-FFF2-40B4-BE49-F238E27FC236}">
                <a16:creationId xmlns:a16="http://schemas.microsoft.com/office/drawing/2014/main" id="{C98BD206-CE20-4959-A2A9-E7691BAC9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71675"/>
            <a:ext cx="54292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087F83"/>
                </a:solidFill>
              </a:defRPr>
            </a:pPr>
            <a:r>
              <a:rPr sz="5100" b="1">
                <a:solidFill>
                  <a:srgbClr val="087F83"/>
                </a:solidFill>
              </a:rPr>
              <a:t>2.34 million</a:t>
            </a:r>
          </a:p>
        </p:txBody>
      </p:sp>
      <p:sp>
        <p:nvSpPr>
          <p:cNvPr id="5" name="actual hourly weather records">
            <a:extLst xmlns:a="http://schemas.openxmlformats.org/drawingml/2006/main">
              <a:ext uri="{FF2B5EF4-FFF2-40B4-BE49-F238E27FC236}">
                <a16:creationId xmlns:a16="http://schemas.microsoft.com/office/drawing/2014/main" id="{BE958874-E541-438C-B006-86217397F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43250"/>
            <a:ext cx="5334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0">
                <a:solidFill>
                  <a:srgbClr val="112D40"/>
                </a:solidFill>
              </a:defRPr>
            </a:pPr>
            <a:r>
              <a:rPr sz="2250" b="0">
                <a:solidFill>
                  <a:srgbClr val="112D40"/>
                </a:solidFill>
              </a:rPr>
              <a:t>actual hourly weather records</a:t>
            </a:r>
          </a:p>
        </p:txBody>
      </p:sp>
      <p:sp>
        <p:nvSpPr>
          <p:cNvPr id="6" name="20 requested weather locations&#10;41,616 daily d">
            <a:extLst xmlns:a="http://schemas.openxmlformats.org/drawingml/2006/main">
              <a:ext uri="{FF2B5EF4-FFF2-40B4-BE49-F238E27FC236}">
                <a16:creationId xmlns:a16="http://schemas.microsoft.com/office/drawing/2014/main" id="{1C2A4908-EA8D-40E3-AA85-3AA0FC22C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0"/>
            <a:ext cx="5429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526878"/>
                </a:solidFill>
              </a:defRPr>
            </a:pPr>
            <a:r>
              <a:rPr sz="2100" b="0">
                <a:solidFill>
                  <a:srgbClr val="526878"/>
                </a:solidFill>
              </a:rPr>
              <a:t>25 district reference points</a:t>
            </a:r>
          </a:p>
          <a:p xmlns:a="http://schemas.openxmlformats.org/drawingml/2006/main">
            <a:pPr>
              <a:buNone/>
              <a:defRPr sz="2100" b="0">
                <a:solidFill>
                  <a:srgbClr val="526878"/>
                </a:solidFill>
              </a:defRPr>
            </a:pPr>
            <a:r>
              <a:rPr sz="2100" b="0">
                <a:solidFill>
                  <a:srgbClr val="526878"/>
                </a:solidFill>
              </a:rPr>
              <a:t>89,815 daily discharge values</a:t>
            </a:r>
          </a:p>
          <a:p xmlns:a="http://schemas.openxmlformats.org/drawingml/2006/main">
            <a:pPr>
              <a:buNone/>
              <a:defRPr sz="2100" b="0">
                <a:solidFill>
                  <a:srgbClr val="526878"/>
                </a:solidFill>
              </a:defRPr>
            </a:pPr>
            <a:r>
              <a:rPr sz="2100" b="0">
                <a:solidFill>
                  <a:srgbClr val="526878"/>
                </a:solidFill>
              </a:rPr>
              <a:t>All nine provinces represented</a:t>
            </a:r>
          </a:p>
        </p:txBody>
      </p:sp>
      <p:sp>
        <p:nvSpPr>
          <p:cNvPr id="7" name="Two modelled data sources">
            <a:extLst xmlns:a="http://schemas.openxmlformats.org/drawingml/2006/main">
              <a:ext uri="{FF2B5EF4-FFF2-40B4-BE49-F238E27FC236}">
                <a16:creationId xmlns:a16="http://schemas.microsoft.com/office/drawing/2014/main" id="{47D9416A-13BF-428A-9509-FD55E5AA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Historical data + API forecasts</a:t>
            </a:r>
          </a:p>
        </p:txBody>
      </p:sp>
      <p:sp>
        <p:nvSpPr>
          <p:cNvPr id="8" name="ERA5 historical weather&#10;GloFAS consolidated d">
            <a:extLst xmlns:a="http://schemas.openxmlformats.org/drawingml/2006/main">
              <a:ext uri="{FF2B5EF4-FFF2-40B4-BE49-F238E27FC236}">
                <a16:creationId xmlns:a16="http://schemas.microsoft.com/office/drawing/2014/main" id="{93F4B65E-406F-496C-88BA-E3D690C53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ERA5 / recent IFS weather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GloFAS modelled discharge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January 2016–September 2026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Future forecasts stay separate.</a:t>
            </a:r>
          </a:p>
        </p:txBody>
      </p:sp>
    </p:spTree>
    <p:extLst>
      <p:ext uri="{BB962C8B-B14F-4D97-AF65-F5344CB8AC3E}">
        <p14:creationId xmlns:p14="http://schemas.microsoft.com/office/powerpoint/2010/main" val="2189846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repare once; explore without heavy queries">
            <a:extLst xmlns:a="http://schemas.openxmlformats.org/drawingml/2006/main">
              <a:ext uri="{FF2B5EF4-FFF2-40B4-BE49-F238E27FC236}">
                <a16:creationId xmlns:a16="http://schemas.microsoft.com/office/drawing/2014/main" id="{F6BA2C8B-FD08-4CB0-9CC3-F0C2AE40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Prepare once; explore without heavy queries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B79392F8-0802-4390-BD4D-8C4078F82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3">
            <a:extLst xmlns:a="http://schemas.openxmlformats.org/drawingml/2006/main">
              <a:ext uri="{FF2B5EF4-FFF2-40B4-BE49-F238E27FC236}">
                <a16:creationId xmlns:a16="http://schemas.microsoft.com/office/drawing/2014/main" id="{0EA08492-AD85-47CB-873C-0C7D82B7D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835206-23A0-450C-9B51-FA2B77DE2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67050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BD2"/>
          </a:solidFill>
          <a:ln xmlns:a="http://schemas.openxmlformats.org/drawingml/2006/main" w="0">
            <a:noFill/>
          </a:ln>
        </p:spPr>
      </p:sp>
      <p:sp>
        <p:nvSpPr>
          <p:cNvPr id="5" name="COLLECT">
            <a:extLst xmlns:a="http://schemas.openxmlformats.org/drawingml/2006/main">
              <a:ext uri="{FF2B5EF4-FFF2-40B4-BE49-F238E27FC236}">
                <a16:creationId xmlns:a16="http://schemas.microsoft.com/office/drawing/2014/main" id="{7AA2AB09-EA78-4CEB-8650-3DB8EB46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33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COLLECT</a:t>
            </a:r>
          </a:p>
        </p:txBody>
      </p:sp>
      <p:sp>
        <p:nvSpPr>
          <p:cNvPr id="6" name="Source evidence">
            <a:extLst xmlns:a="http://schemas.openxmlformats.org/drawingml/2006/main">
              <a:ext uri="{FF2B5EF4-FFF2-40B4-BE49-F238E27FC236}">
                <a16:creationId xmlns:a16="http://schemas.microsoft.com/office/drawing/2014/main" id="{DB61BD2C-8753-4406-AFFB-F8DC5FE25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2D40"/>
                </a:solidFill>
              </a:defRPr>
            </a:pPr>
            <a:r>
              <a:rPr sz="2250" b="1">
                <a:solidFill>
                  <a:srgbClr val="112D40"/>
                </a:solidFill>
              </a:rPr>
              <a:t>Source evidence</a:t>
            </a:r>
          </a:p>
        </p:txBody>
      </p:sp>
      <p:sp>
        <p:nvSpPr>
          <p:cNvPr id="7" name="API responses, timestamps,&#10;units and returned">
            <a:extLst xmlns:a="http://schemas.openxmlformats.org/drawingml/2006/main">
              <a:ext uri="{FF2B5EF4-FFF2-40B4-BE49-F238E27FC236}">
                <a16:creationId xmlns:a16="http://schemas.microsoft.com/office/drawing/2014/main" id="{4A5DD22D-481B-437F-8040-012FAA7A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API responses, timestamps,</a:t>
            </a:r>
          </a:p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units and returned grids.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Resumable cache and retries.</a:t>
            </a:r>
          </a:p>
        </p:txBody>
      </p:sp>
      <p:sp>
        <p:nvSpPr>
          <p:cNvPr id="8" name="PROCESS">
            <a:extLst xmlns:a="http://schemas.openxmlformats.org/drawingml/2006/main">
              <a:ext uri="{FF2B5EF4-FFF2-40B4-BE49-F238E27FC236}">
                <a16:creationId xmlns:a16="http://schemas.microsoft.com/office/drawing/2014/main" id="{3CD0CCDA-E170-4788-B5F0-D281974B1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PROCESS</a:t>
            </a:r>
          </a:p>
        </p:txBody>
      </p:sp>
      <p:sp>
        <p:nvSpPr>
          <p:cNvPr id="9" name="Analytical records">
            <a:extLst xmlns:a="http://schemas.openxmlformats.org/drawingml/2006/main">
              <a:ext uri="{FF2B5EF4-FFF2-40B4-BE49-F238E27FC236}">
                <a16:creationId xmlns:a16="http://schemas.microsoft.com/office/drawing/2014/main" id="{157EBFCC-9234-4977-96B7-37F97B9A6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476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2D40"/>
                </a:solidFill>
              </a:defRPr>
            </a:pPr>
            <a:r>
              <a:rPr sz="2250" b="1">
                <a:solidFill>
                  <a:srgbClr val="112D40"/>
                </a:solidFill>
              </a:rPr>
              <a:t>Analytical records</a:t>
            </a:r>
          </a:p>
        </p:txBody>
      </p:sp>
      <p:sp>
        <p:nvSpPr>
          <p:cNvPr id="10" name="Year/location Parquet.&#10;Daily features and bas">
            <a:extLst xmlns:a="http://schemas.openxmlformats.org/drawingml/2006/main">
              <a:ext uri="{FF2B5EF4-FFF2-40B4-BE49-F238E27FC236}">
                <a16:creationId xmlns:a16="http://schemas.microsoft.com/office/drawing/2014/main" id="{36940D85-4887-4CC9-BF96-D8C873F4F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1910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Parquet and Spark processing.</a:t>
            </a:r>
          </a:p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S3 storage; PostgreSQL queries.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Cloud execution: team accounts.</a:t>
            </a:r>
          </a:p>
        </p:txBody>
      </p:sp>
      <p:sp>
        <p:nvSpPr>
          <p:cNvPr id="11" name="EXPLORE">
            <a:extLst xmlns:a="http://schemas.openxmlformats.org/drawingml/2006/main">
              <a:ext uri="{FF2B5EF4-FFF2-40B4-BE49-F238E27FC236}">
                <a16:creationId xmlns:a16="http://schemas.microsoft.com/office/drawing/2014/main" id="{12D27444-4904-4627-BB0E-AB828601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333625"/>
            <a:ext cx="3333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650" b="1">
                <a:solidFill>
                  <a:srgbClr val="087F83"/>
                </a:solidFill>
              </a:defRPr>
            </a:pPr>
            <a:r>
              <a:rPr sz="1650" b="1">
                <a:solidFill>
                  <a:srgbClr val="087F83"/>
                </a:solidFill>
              </a:rPr>
              <a:t>EXPLORE</a:t>
            </a:r>
          </a:p>
        </p:txBody>
      </p:sp>
      <p:sp>
        <p:nvSpPr>
          <p:cNvPr id="12" name="Lightweight website">
            <a:extLst xmlns:a="http://schemas.openxmlformats.org/drawingml/2006/main">
              <a:ext uri="{FF2B5EF4-FFF2-40B4-BE49-F238E27FC236}">
                <a16:creationId xmlns:a16="http://schemas.microsoft.com/office/drawing/2014/main" id="{ED526505-5DF5-441A-9DD7-1B6A3DED78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3333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250" b="1">
                <a:solidFill>
                  <a:srgbClr val="112D40"/>
                </a:solidFill>
              </a:defRPr>
            </a:pPr>
            <a:r>
              <a:rPr sz="2250" b="1">
                <a:solidFill>
                  <a:srgbClr val="112D40"/>
                </a:solidFill>
              </a:rPr>
              <a:t>Lightweight website</a:t>
            </a:r>
          </a:p>
        </p:txBody>
      </p:sp>
      <p:sp>
        <p:nvSpPr>
          <p:cNvPr id="13" name="Compact JSON results.&#10;Maps, replay and evalua">
            <a:extLst xmlns:a="http://schemas.openxmlformats.org/drawingml/2006/main">
              <a:ext uri="{FF2B5EF4-FFF2-40B4-BE49-F238E27FC236}">
                <a16:creationId xmlns:a16="http://schemas.microsoft.com/office/drawing/2014/main" id="{32C68DC0-D93D-4DF5-8D3D-A4FE903B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191000"/>
            <a:ext cx="3333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React and FastAPI.</a:t>
            </a:r>
          </a:p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Maps, EDA, replay and forecasts.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875" b="0">
                <a:solidFill>
                  <a:srgbClr val="526878"/>
                </a:solidFill>
              </a:defRPr>
            </a:pPr>
            <a:r>
              <a:rPr sz="1875" b="0">
                <a:solidFill>
                  <a:srgbClr val="526878"/>
                </a:solidFill>
              </a:rPr>
              <a:t>Static or connected hosting.</a:t>
            </a:r>
          </a:p>
        </p:txBody>
      </p:sp>
    </p:spTree>
    <p:extLst>
      <p:ext uri="{BB962C8B-B14F-4D97-AF65-F5344CB8AC3E}">
        <p14:creationId xmlns:p14="http://schemas.microsoft.com/office/powerpoint/2010/main" val="186748427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asonal context changes the comparison">
            <a:extLst xmlns:a="http://schemas.openxmlformats.org/drawingml/2006/main">
              <a:ext uri="{FF2B5EF4-FFF2-40B4-BE49-F238E27FC236}">
                <a16:creationId xmlns:a16="http://schemas.microsoft.com/office/drawing/2014/main" id="{6D8DF1A3-46B1-4D2B-9FCD-8BA2378E2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Seasonal context changes the comparison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37ACBC5A-5AF4-48DF-A37D-5E17C7A2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4">
            <a:extLst xmlns:a="http://schemas.openxmlformats.org/drawingml/2006/main">
              <a:ext uri="{FF2B5EF4-FFF2-40B4-BE49-F238E27FC236}">
                <a16:creationId xmlns:a16="http://schemas.microsoft.com/office/drawing/2014/main" id="{D496632D-C4FF-400F-9396-F3987A1B2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04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d28e9c0e584b9b"/>
          <a:stretch xmlns:a="http://schemas.openxmlformats.org/drawingml/2006/main"/>
        </p:blipFill>
        <p:spPr>
          <a:xfrm xmlns:a="http://schemas.openxmlformats.org/drawingml/2006/main">
            <a:off x="381000" y="2086800"/>
            <a:ext cx="7191375" cy="2970149"/>
          </a:xfrm>
          <a:prstGeom xmlns:a="http://schemas.openxmlformats.org/drawingml/2006/main" prst="rect">
            <a:avLst/>
          </a:prstGeom>
        </p:spPr>
      </p:pic>
      <p:sp>
        <p:nvSpPr>
          <p:cNvPr id="5" name="Compare each point&#10;with its own history.">
            <a:extLst xmlns:a="http://schemas.openxmlformats.org/drawingml/2006/main">
              <a:ext uri="{FF2B5EF4-FFF2-40B4-BE49-F238E27FC236}">
                <a16:creationId xmlns:a16="http://schemas.microsoft.com/office/drawing/2014/main" id="{A3CA629F-9022-4285-81AC-D56343DF1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000250"/>
            <a:ext cx="3667125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12D40"/>
                </a:solidFill>
              </a:defRPr>
            </a:pPr>
            <a:r>
              <a:rPr sz="2700" b="1">
                <a:solidFill>
                  <a:srgbClr val="112D40"/>
                </a:solidFill>
              </a:rPr>
              <a:t>Compare each point</a:t>
            </a:r>
          </a:p>
          <a:p xmlns:a="http://schemas.openxmlformats.org/drawingml/2006/main">
            <a:pPr>
              <a:buNone/>
              <a:defRPr sz="2700" b="1">
                <a:solidFill>
                  <a:srgbClr val="112D40"/>
                </a:solidFill>
              </a:defRPr>
            </a:pPr>
            <a:r>
              <a:rPr sz="2700" b="1">
                <a:solidFill>
                  <a:srgbClr val="112D40"/>
                </a:solidFill>
              </a:rPr>
              <a:t>with its own history.</a:t>
            </a:r>
          </a:p>
        </p:txBody>
      </p:sp>
      <p:sp>
        <p:nvSpPr>
          <p:cNvPr id="6" name="Rainfall patterns differ across&#10;locations and">
            <a:extLst xmlns:a="http://schemas.openxmlformats.org/drawingml/2006/main">
              <a:ext uri="{FF2B5EF4-FFF2-40B4-BE49-F238E27FC236}">
                <a16:creationId xmlns:a16="http://schemas.microsoft.com/office/drawing/2014/main" id="{AA81FB73-2ACE-4EA4-9F32-676801E7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619500"/>
            <a:ext cx="3667125" cy="1857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Rainfall patterns differ across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locations and months.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One absolute threshold can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hide these differences.</a:t>
            </a:r>
          </a:p>
        </p:txBody>
      </p:sp>
    </p:spTree>
    <p:extLst>
      <p:ext uri="{BB962C8B-B14F-4D97-AF65-F5344CB8AC3E}">
        <p14:creationId xmlns:p14="http://schemas.microsoft.com/office/powerpoint/2010/main" val="214283935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Every flag has an explainable definition">
            <a:extLst xmlns:a="http://schemas.openxmlformats.org/drawingml/2006/main">
              <a:ext uri="{FF2B5EF4-FFF2-40B4-BE49-F238E27FC236}">
                <a16:creationId xmlns:a16="http://schemas.microsoft.com/office/drawing/2014/main" id="{5ED39B2D-9921-4694-B09F-449C3118D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Every flag has an explainable definition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A5084382-3C0D-4D3E-AF73-CD5F09F3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5">
            <a:extLst xmlns:a="http://schemas.openxmlformats.org/drawingml/2006/main">
              <a:ext uri="{FF2B5EF4-FFF2-40B4-BE49-F238E27FC236}">
                <a16:creationId xmlns:a16="http://schemas.microsoft.com/office/drawing/2014/main" id="{BBADE30A-4362-4AFA-81B0-EBC634A5F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05</a:t>
            </a:r>
          </a:p>
        </p:txBody>
      </p:sp>
      <p:sp>
        <p:nvSpPr>
          <p:cNvPr id="4" name="Seasonal percentiles">
            <a:extLst xmlns:a="http://schemas.openxmlformats.org/drawingml/2006/main">
              <a:ext uri="{FF2B5EF4-FFF2-40B4-BE49-F238E27FC236}">
                <a16:creationId xmlns:a16="http://schemas.microsoft.com/office/drawing/2014/main" id="{EF643FCD-C257-4093-8183-6275B9EC4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Seasonal percentiles</a:t>
            </a:r>
          </a:p>
        </p:txBody>
      </p:sp>
      <p:sp>
        <p:nvSpPr>
          <p:cNvPr id="5" name="Reference: 2013–2018, same month.&#10;&#10;≥95th perc">
            <a:extLst xmlns:a="http://schemas.openxmlformats.org/drawingml/2006/main">
              <a:ext uri="{FF2B5EF4-FFF2-40B4-BE49-F238E27FC236}">
                <a16:creationId xmlns:a16="http://schemas.microsoft.com/office/drawing/2014/main" id="{715B7031-9649-4E62-B0A0-5FC852D2A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Reference: 2016–2020, same month.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≥95th percentile: elevated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≥99th percentile: unusual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Discharge, 3-day rain, heat and wind.</a:t>
            </a:r>
          </a:p>
        </p:txBody>
      </p:sp>
      <p:sp>
        <p:nvSpPr>
          <p:cNvPr id="6" name="Episodes, not isolated dots">
            <a:extLst xmlns:a="http://schemas.openxmlformats.org/drawingml/2006/main">
              <a:ext uri="{FF2B5EF4-FFF2-40B4-BE49-F238E27FC236}">
                <a16:creationId xmlns:a16="http://schemas.microsoft.com/office/drawing/2014/main" id="{8F2DE8AA-78D0-460A-B3D4-4FAEBBB6A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Episodes, not isolated dots</a:t>
            </a:r>
          </a:p>
        </p:txBody>
      </p:sp>
      <p:sp>
        <p:nvSpPr>
          <p:cNvPr id="7" name="Consecutive exceedances form&#10;an episode. Insp">
            <a:extLst xmlns:a="http://schemas.openxmlformats.org/drawingml/2006/main">
              <a:ext uri="{FF2B5EF4-FFF2-40B4-BE49-F238E27FC236}">
                <a16:creationId xmlns:a16="http://schemas.microsoft.com/office/drawing/2014/main" id="{395C1AB8-D001-4850-8072-EB5EE9C9B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Consecutive exceedances form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an episode. Inspect its duration,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peak and surrounding days.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This identifies unusual conditions;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it does not confirm flood damage.</a:t>
            </a:r>
          </a:p>
        </p:txBody>
      </p:sp>
    </p:spTree>
    <p:extLst>
      <p:ext uri="{BB962C8B-B14F-4D97-AF65-F5344CB8AC3E}">
        <p14:creationId xmlns:p14="http://schemas.microsoft.com/office/powerpoint/2010/main" val="98729966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play connects rainfall with river response">
            <a:extLst xmlns:a="http://schemas.openxmlformats.org/drawingml/2006/main">
              <a:ext uri="{FF2B5EF4-FFF2-40B4-BE49-F238E27FC236}">
                <a16:creationId xmlns:a16="http://schemas.microsoft.com/office/drawing/2014/main" id="{FC6F74F3-5995-43C5-A09B-D2890DEF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Replay connects rainfall with river response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A7065E8F-A0F1-4417-B546-B0AE66CD4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6">
            <a:extLst xmlns:a="http://schemas.openxmlformats.org/drawingml/2006/main">
              <a:ext uri="{FF2B5EF4-FFF2-40B4-BE49-F238E27FC236}">
                <a16:creationId xmlns:a16="http://schemas.microsoft.com/office/drawing/2014/main" id="{4C1D1BC8-A542-4ECC-BB1D-D12B1348F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d111e6f274496f"/>
          <a:stretch xmlns:a="http://schemas.openxmlformats.org/drawingml/2006/main"/>
        </p:blipFill>
        <p:spPr>
          <a:xfrm xmlns:a="http://schemas.openxmlformats.org/drawingml/2006/main">
            <a:off x="381000" y="1624197"/>
            <a:ext cx="7286625" cy="4000132"/>
          </a:xfrm>
          <a:prstGeom xmlns:a="http://schemas.openxmlformats.org/drawingml/2006/main" prst="rect">
            <a:avLst/>
          </a:prstGeom>
        </p:spPr>
      </p:pic>
      <p:sp>
        <p:nvSpPr>
          <p:cNvPr id="5" name="Peradeniya">
            <a:extLst xmlns:a="http://schemas.openxmlformats.org/drawingml/2006/main">
              <a:ext uri="{FF2B5EF4-FFF2-40B4-BE49-F238E27FC236}">
                <a16:creationId xmlns:a16="http://schemas.microsoft.com/office/drawing/2014/main" id="{16479B0D-C499-4061-B14C-B54C7819B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1952625"/>
            <a:ext cx="366712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700" b="1">
                <a:solidFill>
                  <a:srgbClr val="112D40"/>
                </a:solidFill>
              </a:defRPr>
            </a:pPr>
            <a:r>
              <a:rPr sz="2700" b="1">
                <a:solidFill>
                  <a:srgbClr val="112D40"/>
                </a:solidFill>
              </a:rPr>
              <a:t>Kalutara</a:t>
            </a:r>
          </a:p>
        </p:txBody>
      </p:sp>
      <p:sp>
        <p:nvSpPr>
          <p:cNvPr id="6" name="2021-01-13">
            <a:extLst xmlns:a="http://schemas.openxmlformats.org/drawingml/2006/main">
              <a:ext uri="{FF2B5EF4-FFF2-40B4-BE49-F238E27FC236}">
                <a16:creationId xmlns:a16="http://schemas.microsoft.com/office/drawing/2014/main" id="{5B9BE0A2-440E-4110-B170-AF6D081B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762250"/>
            <a:ext cx="361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100" b="0">
                <a:solidFill>
                  <a:srgbClr val="087F83"/>
                </a:solidFill>
              </a:defRPr>
            </a:pPr>
            <a:r>
              <a:rPr sz="2100" b="0">
                <a:solidFill>
                  <a:srgbClr val="087F83"/>
                </a:solidFill>
              </a:rPr>
              <a:t>2025-11-29</a:t>
            </a:r>
          </a:p>
        </p:txBody>
      </p:sp>
      <p:sp>
        <p:nvSpPr>
          <p:cNvPr id="7" name="313.8 m³/s">
            <a:extLst xmlns:a="http://schemas.openxmlformats.org/drawingml/2006/main">
              <a:ext uri="{FF2B5EF4-FFF2-40B4-BE49-F238E27FC236}">
                <a16:creationId xmlns:a16="http://schemas.microsoft.com/office/drawing/2014/main" id="{2929484D-0B6D-4214-8923-9ECEC4F8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429000"/>
            <a:ext cx="3667125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600" b="1">
                <a:solidFill>
                  <a:srgbClr val="112D40"/>
                </a:solidFill>
              </a:defRPr>
            </a:pPr>
            <a:r>
              <a:rPr sz="3600" b="1">
                <a:solidFill>
                  <a:srgbClr val="112D40"/>
                </a:solidFill>
              </a:rPr>
              <a:t>1354.2 m³/s</a:t>
            </a:r>
          </a:p>
        </p:txBody>
      </p:sp>
      <p:sp>
        <p:nvSpPr>
          <p:cNvPr id="8" name="Selected peak modelled flow.&#10;&#10;Explore before,">
            <a:extLst xmlns:a="http://schemas.openxmlformats.org/drawingml/2006/main">
              <a:ext uri="{FF2B5EF4-FFF2-40B4-BE49-F238E27FC236}">
                <a16:creationId xmlns:a16="http://schemas.microsoft.com/office/drawing/2014/main" id="{0C2D18EB-0BBE-4FA2-8CA9-A77FA47B8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4524375"/>
            <a:ext cx="366712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Selected peak modelled flow.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Explore before, during and</a:t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after the episode.</a:t>
            </a:r>
          </a:p>
        </p:txBody>
      </p:sp>
    </p:spTree>
    <p:extLst>
      <p:ext uri="{BB962C8B-B14F-4D97-AF65-F5344CB8AC3E}">
        <p14:creationId xmlns:p14="http://schemas.microsoft.com/office/powerpoint/2010/main" val="36017014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Test predictions on later years">
            <a:extLst xmlns:a="http://schemas.openxmlformats.org/drawingml/2006/main">
              <a:ext uri="{FF2B5EF4-FFF2-40B4-BE49-F238E27FC236}">
                <a16:creationId xmlns:a16="http://schemas.microsoft.com/office/drawing/2014/main" id="{17F07BF8-C542-4599-9501-4922C6E3F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Interpret the provider forecasts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1EF38987-584F-47DF-9919-D43D7347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7">
            <a:extLst xmlns:a="http://schemas.openxmlformats.org/drawingml/2006/main">
              <a:ext uri="{FF2B5EF4-FFF2-40B4-BE49-F238E27FC236}">
                <a16:creationId xmlns:a16="http://schemas.microsoft.com/office/drawing/2014/main" id="{6BED72B2-CAAF-4DB4-B231-AF87069CC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79AF54-2CDC-4328-8873-13606CBA4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86125"/>
            <a:ext cx="11201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CCBD2"/>
          </a:solidFill>
          <a:ln xmlns:a="http://schemas.openxmlformats.org/drawingml/2006/main" w="0">
            <a:noFill/>
          </a:ln>
        </p:spPr>
      </p:sp>
      <p:sp>
        <p:nvSpPr>
          <p:cNvPr id="5" name="2013–2018">
            <a:extLst xmlns:a="http://schemas.openxmlformats.org/drawingml/2006/main">
              <a:ext uri="{FF2B5EF4-FFF2-40B4-BE49-F238E27FC236}">
                <a16:creationId xmlns:a16="http://schemas.microsoft.com/office/drawing/2014/main" id="{B39BBC18-48C3-4249-8CEC-244A8A1D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765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</a:defRPr>
            </a:pPr>
            <a:r>
              <a:rPr sz="2025" b="1">
                <a:solidFill>
                  <a:srgbClr val="087F83"/>
                </a:solidFill>
              </a:rPr>
              <a:t>WEATHER API</a:t>
            </a:r>
          </a:p>
        </p:txBody>
      </p:sp>
      <p:sp>
        <p:nvSpPr>
          <p:cNvPr id="6" name="Train">
            <a:extLst xmlns:a="http://schemas.openxmlformats.org/drawingml/2006/main">
              <a:ext uri="{FF2B5EF4-FFF2-40B4-BE49-F238E27FC236}">
                <a16:creationId xmlns:a16="http://schemas.microsoft.com/office/drawing/2014/main" id="{32A0F6D5-F388-4429-A7C2-9992CFA9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147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Rain and weather</a:t>
            </a:r>
          </a:p>
        </p:txBody>
      </p:sp>
      <p:sp>
        <p:nvSpPr>
          <p:cNvPr id="7" name="Lagged flow, rain, weather,&#10;season and locati">
            <a:extLst xmlns:a="http://schemas.openxmlformats.org/drawingml/2006/main">
              <a:ext uri="{FF2B5EF4-FFF2-40B4-BE49-F238E27FC236}">
                <a16:creationId xmlns:a16="http://schemas.microsoft.com/office/drawing/2014/main" id="{94F13017-CE34-42FA-9432-219B8280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72000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Daily weather predictions.</a:t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Current conditions and rain chance.</a:t>
            </a:r>
          </a:p>
        </p:txBody>
      </p:sp>
      <p:sp>
        <p:nvSpPr>
          <p:cNvPr id="8" name="2019">
            <a:extLst xmlns:a="http://schemas.openxmlformats.org/drawingml/2006/main">
              <a:ext uri="{FF2B5EF4-FFF2-40B4-BE49-F238E27FC236}">
                <a16:creationId xmlns:a16="http://schemas.microsoft.com/office/drawing/2014/main" id="{C7AF40DE-6B14-4134-9083-5E3471BE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4765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</a:defRPr>
            </a:pPr>
            <a:r>
              <a:rPr sz="2025" b="1">
                <a:solidFill>
                  <a:srgbClr val="087F83"/>
                </a:solidFill>
              </a:rPr>
              <a:t>FLOOD API</a:t>
            </a:r>
          </a:p>
        </p:txBody>
      </p:sp>
      <p:sp>
        <p:nvSpPr>
          <p:cNvPr id="9" name="Validate and refit">
            <a:extLst xmlns:a="http://schemas.openxmlformats.org/drawingml/2006/main">
              <a:ext uri="{FF2B5EF4-FFF2-40B4-BE49-F238E27FC236}">
                <a16:creationId xmlns:a16="http://schemas.microsoft.com/office/drawing/2014/main" id="{ADB9C178-7E00-4CBE-8FB2-15E86C443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7147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River-flow outlook</a:t>
            </a:r>
          </a:p>
        </p:txBody>
      </p:sp>
      <p:sp>
        <p:nvSpPr>
          <p:cNvPr id="10" name="Select regularisation.&#10;Refit through 2019.">
            <a:extLst xmlns:a="http://schemas.openxmlformats.org/drawingml/2006/main">
              <a:ext uri="{FF2B5EF4-FFF2-40B4-BE49-F238E27FC236}">
                <a16:creationId xmlns:a16="http://schemas.microsoft.com/office/drawing/2014/main" id="{87A8FC70-347F-496B-8020-00F8F263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572000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Median flow and ensemble spread.</a:t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Keep the retrieval timestamp.</a:t>
            </a:r>
          </a:p>
        </p:txBody>
      </p:sp>
      <p:sp>
        <p:nvSpPr>
          <p:cNvPr id="11" name="2020–JUN 2022">
            <a:extLst xmlns:a="http://schemas.openxmlformats.org/drawingml/2006/main">
              <a:ext uri="{FF2B5EF4-FFF2-40B4-BE49-F238E27FC236}">
                <a16:creationId xmlns:a16="http://schemas.microsoft.com/office/drawing/2014/main" id="{227EE0FD-5F00-4FDB-81E7-0F945FD6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381375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1">
                <a:solidFill>
                  <a:srgbClr val="087F83"/>
                </a:solidFill>
              </a:defRPr>
            </a:pPr>
            <a:r>
              <a:rPr sz="2025" b="1">
                <a:solidFill>
                  <a:srgbClr val="087F83"/>
                </a:solidFill>
              </a:rPr>
              <a:t>HISTORICAL CONTEXT</a:t>
            </a:r>
          </a:p>
        </p:txBody>
      </p:sp>
      <p:sp>
        <p:nvSpPr>
          <p:cNvPr id="12" name="Hold out">
            <a:extLst xmlns:a="http://schemas.openxmlformats.org/drawingml/2006/main">
              <a:ext uri="{FF2B5EF4-FFF2-40B4-BE49-F238E27FC236}">
                <a16:creationId xmlns:a16="http://schemas.microsoft.com/office/drawing/2014/main" id="{89C9F263-C6C2-4768-8337-C414B0C0F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3381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Explain each signal</a:t>
            </a:r>
          </a:p>
        </p:txBody>
      </p:sp>
      <p:sp>
        <p:nvSpPr>
          <p:cNvPr id="13" name="Compare Ridge with&#10;tomorrow equals today.">
            <a:extLst xmlns:a="http://schemas.openxmlformats.org/drawingml/2006/main">
              <a:ext uri="{FF2B5EF4-FFF2-40B4-BE49-F238E27FC236}">
                <a16:creationId xmlns:a16="http://schemas.microsoft.com/office/drawing/2014/main" id="{AC2D7EBA-358E-41A7-ABD6-3BFFDFFC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72000"/>
            <a:ext cx="33813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Compare with monthly thresholds.</a:t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No project-trained model.</a:t>
            </a:r>
          </a:p>
        </p:txBody>
      </p:sp>
    </p:spTree>
    <p:extLst>
      <p:ext uri="{BB962C8B-B14F-4D97-AF65-F5344CB8AC3E}">
        <p14:creationId xmlns:p14="http://schemas.microsoft.com/office/powerpoint/2010/main" val="118137646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Report the model against persistence">
            <a:extLst xmlns:a="http://schemas.openxmlformats.org/drawingml/2006/main">
              <a:ext uri="{FF2B5EF4-FFF2-40B4-BE49-F238E27FC236}">
                <a16:creationId xmlns:a16="http://schemas.microsoft.com/office/drawing/2014/main" id="{A2065782-AE2E-4377-BA1C-A1E98EAF6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Read the rainfall and river outlook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83E3BBBF-19C1-4CCC-BE31-F803AD16E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8">
            <a:extLst xmlns:a="http://schemas.openxmlformats.org/drawingml/2006/main">
              <a:ext uri="{FF2B5EF4-FFF2-40B4-BE49-F238E27FC236}">
                <a16:creationId xmlns:a16="http://schemas.microsoft.com/office/drawing/2014/main" id="{A27BBE90-4B78-46B0-94C9-4D3AF4D9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efcf674c6747ca"/>
          <a:stretch xmlns:a="http://schemas.openxmlformats.org/drawingml/2006/main"/>
        </p:blipFill>
        <p:spPr>
          <a:xfrm xmlns:a="http://schemas.openxmlformats.org/drawingml/2006/main">
            <a:off x="710726" y="1917700"/>
            <a:ext cx="6836723" cy="3365500"/>
          </a:xfrm>
          <a:prstGeom xmlns:a="http://schemas.openxmlformats.org/drawingml/2006/main" prst="rect">
            <a:avLst/>
          </a:prstGeom>
        </p:spPr>
      </p:pic>
      <p:sp>
        <p:nvSpPr>
          <p:cNvPr id="5" name="27.1%">
            <a:extLst xmlns:a="http://schemas.openxmlformats.org/drawingml/2006/main">
              <a:ext uri="{FF2B5EF4-FFF2-40B4-BE49-F238E27FC236}">
                <a16:creationId xmlns:a16="http://schemas.microsoft.com/office/drawing/2014/main" id="{3C7C09E5-346C-44D5-A622-0859D8CAD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952625"/>
            <a:ext cx="3286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5100" b="1">
                <a:solidFill>
                  <a:srgbClr val="087F83"/>
                </a:solidFill>
              </a:defRPr>
            </a:pPr>
            <a:r>
              <a:rPr sz="5100" b="1">
                <a:solidFill>
                  <a:srgbClr val="087F83"/>
                </a:solidFill>
              </a:rPr>
              <a:t>16 days</a:t>
            </a:r>
          </a:p>
        </p:txBody>
      </p:sp>
      <p:sp>
        <p:nvSpPr>
          <p:cNvPr id="6" name="aggregate MAE improvement">
            <a:extLst xmlns:a="http://schemas.openxmlformats.org/drawingml/2006/main">
              <a:ext uri="{FF2B5EF4-FFF2-40B4-BE49-F238E27FC236}">
                <a16:creationId xmlns:a16="http://schemas.microsoft.com/office/drawing/2014/main" id="{495C06A2-3AB4-4882-9145-264E38E5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00375"/>
            <a:ext cx="3286125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r>
              <a:rPr sz="2025">
                <a:solidFill>
                  <a:srgbClr val="112D40"/>
                </a:solidFill>
              </a:rPr>
              <a:t>API forecast</a:t>
            </a:r>
          </a:p>
          <a:p xmlns:a="http://schemas.openxmlformats.org/drawingml/2006/main">
            <a:r>
              <a:rPr sz="2025">
                <a:solidFill>
                  <a:srgbClr val="112D40"/>
                </a:solidFill>
              </a:rPr>
              <a:t>outlook</a:t>
            </a:r>
          </a:p>
        </p:txBody>
      </p:sp>
      <p:sp>
        <p:nvSpPr>
          <p:cNvPr id="7" name="Ridge: 0.986 m³/s&#10;Persistence: 1.353 m³/s&#10;&#10;10">
            <a:extLst xmlns:a="http://schemas.openxmlformats.org/drawingml/2006/main">
              <a:ext uri="{FF2B5EF4-FFF2-40B4-BE49-F238E27FC236}">
                <a16:creationId xmlns:a16="http://schemas.microsoft.com/office/drawing/2014/main" id="{6CAB16B0-023B-4290-93CB-38E15869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286125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Ratnapura</a:t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Forecast rain: 286.6 mm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1950" b="0">
                <a:solidFill>
                  <a:srgbClr val="526878"/>
                </a:solidFill>
              </a:defRPr>
            </a:pPr>
            <a:r>
              <a:rPr sz="1950" b="0">
                <a:solidFill>
                  <a:srgbClr val="526878"/>
                </a:solidFill>
              </a:rPr>
              <a:t>Source: Open-Meteo / GloFAS</a:t>
            </a:r>
          </a:p>
        </p:txBody>
      </p:sp>
    </p:spTree>
    <p:extLst>
      <p:ext uri="{BB962C8B-B14F-4D97-AF65-F5344CB8AC3E}">
        <p14:creationId xmlns:p14="http://schemas.microsoft.com/office/powerpoint/2010/main" val="11574801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Measure processing on actual records">
            <a:extLst xmlns:a="http://schemas.openxmlformats.org/drawingml/2006/main">
              <a:ext uri="{FF2B5EF4-FFF2-40B4-BE49-F238E27FC236}">
                <a16:creationId xmlns:a16="http://schemas.microsoft.com/office/drawing/2014/main" id="{DB262483-CF63-4924-8808-9B47F9EDD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Measure processing on actual records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22E84B18-3296-452A-AEEF-661F4667E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09">
            <a:extLst xmlns:a="http://schemas.openxmlformats.org/drawingml/2006/main">
              <a:ext uri="{FF2B5EF4-FFF2-40B4-BE49-F238E27FC236}">
                <a16:creationId xmlns:a16="http://schemas.microsoft.com/office/drawing/2014/main" id="{9F63C648-5AA3-4600-BC3E-71D7555A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09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6b0453ddcc4593"/>
          <a:stretch xmlns:a="http://schemas.openxmlformats.org/drawingml/2006/main"/>
        </p:blipFill>
        <p:spPr>
          <a:xfrm xmlns:a="http://schemas.openxmlformats.org/drawingml/2006/main">
            <a:off x="381000" y="2122923"/>
            <a:ext cx="7000875" cy="2897903"/>
          </a:xfrm>
          <a:prstGeom xmlns:a="http://schemas.openxmlformats.org/drawingml/2006/main" prst="rect">
            <a:avLst/>
          </a:prstGeom>
        </p:spPr>
      </p:pic>
      <p:sp>
        <p:nvSpPr>
          <p:cNvPr id="5" name="Parquet + DuckDB">
            <a:extLst xmlns:a="http://schemas.openxmlformats.org/drawingml/2006/main">
              <a:ext uri="{FF2B5EF4-FFF2-40B4-BE49-F238E27FC236}">
                <a16:creationId xmlns:a16="http://schemas.microsoft.com/office/drawing/2014/main" id="{57A77E72-7733-486A-969A-F006C26C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000250"/>
            <a:ext cx="37623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625" b="1">
                <a:solidFill>
                  <a:srgbClr val="112D40"/>
                </a:solidFill>
              </a:defRPr>
            </a:pPr>
            <a:r>
              <a:rPr sz="2625" b="1">
                <a:solidFill>
                  <a:srgbClr val="112D40"/>
                </a:solidFill>
              </a:rPr>
              <a:t>SQL + Spark</a:t>
            </a:r>
          </a:p>
        </p:txBody>
      </p:sp>
      <p:sp>
        <p:nvSpPr>
          <p:cNvPr id="6" name="22.4 MiB hourly Parquet&#10;&#10;Three timed runs per">
            <a:extLst xmlns:a="http://schemas.openxmlformats.org/drawingml/2006/main">
              <a:ext uri="{FF2B5EF4-FFF2-40B4-BE49-F238E27FC236}">
                <a16:creationId xmlns:a16="http://schemas.microsoft.com/office/drawing/2014/main" id="{AC3B6A4F-7A60-4BFC-BE71-BEDBAFE4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3048000"/>
            <a:ext cx="3762375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20.0 MiB hourly CSV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Spark: 97,625 daily rows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2 local workers; 58.0 seconds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Cloud run needs team accounts.</a:t>
            </a:r>
          </a:p>
        </p:txBody>
      </p:sp>
      <p:sp>
        <p:nvSpPr>
          <p:cNvPr id="7" name="No synthetic row inflation.">
            <a:extLst xmlns:a="http://schemas.openxmlformats.org/drawingml/2006/main">
              <a:ext uri="{FF2B5EF4-FFF2-40B4-BE49-F238E27FC236}">
                <a16:creationId xmlns:a16="http://schemas.microsoft.com/office/drawing/2014/main" id="{98225893-9E0E-491E-B946-105BEDABD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457825"/>
            <a:ext cx="37623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800" b="1">
                <a:solidFill>
                  <a:srgbClr val="087F83"/>
                </a:solidFill>
              </a:defRPr>
            </a:pPr>
            <a:r>
              <a:rPr sz="1800" b="1">
                <a:solidFill>
                  <a:srgbClr val="087F83"/>
                </a:solidFill>
              </a:rPr>
              <a:t>No synthetic row inflation.</a:t>
            </a:r>
          </a:p>
        </p:txBody>
      </p:sp>
    </p:spTree>
    <p:extLst>
      <p:ext uri="{BB962C8B-B14F-4D97-AF65-F5344CB8AC3E}">
        <p14:creationId xmlns:p14="http://schemas.microsoft.com/office/powerpoint/2010/main" val="8292896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The product is ready for a team handover">
            <a:extLst xmlns:a="http://schemas.openxmlformats.org/drawingml/2006/main">
              <a:ext uri="{FF2B5EF4-FFF2-40B4-BE49-F238E27FC236}">
                <a16:creationId xmlns:a16="http://schemas.microsoft.com/office/drawing/2014/main" id="{41E9D386-6BD1-4D5B-9041-F632AE8E5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The product is ready for a team handover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D70090A5-4F32-47DF-A249-90D020243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10">
            <a:extLst xmlns:a="http://schemas.openxmlformats.org/drawingml/2006/main">
              <a:ext uri="{FF2B5EF4-FFF2-40B4-BE49-F238E27FC236}">
                <a16:creationId xmlns:a16="http://schemas.microsoft.com/office/drawing/2014/main" id="{ADCC880E-0CD0-4271-B67C-AFC7BE1B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10</a:t>
            </a:r>
          </a:p>
        </p:txBody>
      </p:sp>
      <p:sp>
        <p:nvSpPr>
          <p:cNvPr id="4" name="A complete analytical workflow">
            <a:extLst xmlns:a="http://schemas.openxmlformats.org/drawingml/2006/main">
              <a:ext uri="{FF2B5EF4-FFF2-40B4-BE49-F238E27FC236}">
                <a16:creationId xmlns:a16="http://schemas.microsoft.com/office/drawing/2014/main" id="{1DEB1032-6BDF-4DC6-8AAF-66136A559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A complete analytical workflow</a:t>
            </a:r>
          </a:p>
        </p:txBody>
      </p:sp>
      <p:sp>
        <p:nvSpPr>
          <p:cNvPr id="5" name="Overview and Sri Lanka map&#10;Current forecasts ">
            <a:extLst xmlns:a="http://schemas.openxmlformats.org/drawingml/2006/main">
              <a:ext uri="{FF2B5EF4-FFF2-40B4-BE49-F238E27FC236}">
                <a16:creationId xmlns:a16="http://schemas.microsoft.com/office/drawing/2014/main" id="{A340FCC9-3653-4FA1-9984-879552CE2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25 districts and global map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16-day API forecasts; GPS and elevation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EDA, monsoons and screening scores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Historical exploration and event replay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React / FastAPI; Spark / cloud files</a:t>
            </a:r>
          </a:p>
        </p:txBody>
      </p:sp>
      <p:sp>
        <p:nvSpPr>
          <p:cNvPr id="6" name="Three clear ownership areas">
            <a:extLst xmlns:a="http://schemas.openxmlformats.org/drawingml/2006/main">
              <a:ext uri="{FF2B5EF4-FFF2-40B4-BE49-F238E27FC236}">
                <a16:creationId xmlns:a16="http://schemas.microsoft.com/office/drawing/2014/main" id="{F03DC7A0-B554-47E1-B242-3BFC516E6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Three clear ownership areas</a:t>
            </a:r>
          </a:p>
        </p:txBody>
      </p:sp>
      <p:sp>
        <p:nvSpPr>
          <p:cNvPr id="7" name="Member 1: data and engineering&#10;Member 2: anal">
            <a:extLst xmlns:a="http://schemas.openxmlformats.org/drawingml/2006/main">
              <a:ext uri="{FF2B5EF4-FFF2-40B4-BE49-F238E27FC236}">
                <a16:creationId xmlns:a16="http://schemas.microsoft.com/office/drawing/2014/main" id="{BCB7F220-18AE-4EF5-A19D-3489BAFDC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Kasun Vishvajith: data pipeline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Akindu Liyanage: analysis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Yasuri Fernando: application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Proposed roles; record actual work.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Group A · review and rehearse.</a:t>
            </a:r>
          </a:p>
        </p:txBody>
      </p:sp>
    </p:spTree>
    <p:extLst>
      <p:ext uri="{BB962C8B-B14F-4D97-AF65-F5344CB8AC3E}">
        <p14:creationId xmlns:p14="http://schemas.microsoft.com/office/powerpoint/2010/main" val="116124131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Useful indicators need honest boundaries">
            <a:extLst xmlns:a="http://schemas.openxmlformats.org/drawingml/2006/main">
              <a:ext uri="{FF2B5EF4-FFF2-40B4-BE49-F238E27FC236}">
                <a16:creationId xmlns:a16="http://schemas.microsoft.com/office/drawing/2014/main" id="{7B0F38DE-B93D-45F2-865E-CA8F4A61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112776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3450" b="1">
                <a:solidFill>
                  <a:srgbClr val="112D40"/>
                </a:solidFill>
              </a:defRPr>
            </a:pPr>
            <a:r>
              <a:rPr sz="3450" b="1">
                <a:solidFill>
                  <a:srgbClr val="112D40"/>
                </a:solidFill>
              </a:rPr>
              <a:t>Useful indicators need honest boundaries</a:t>
            </a:r>
          </a:p>
        </p:txBody>
      </p:sp>
      <p:sp>
        <p:nvSpPr>
          <p:cNvPr id="2" name="FLOODLENS  /  DS 4004">
            <a:extLst xmlns:a="http://schemas.openxmlformats.org/drawingml/2006/main">
              <a:ext uri="{FF2B5EF4-FFF2-40B4-BE49-F238E27FC236}">
                <a16:creationId xmlns:a16="http://schemas.microsoft.com/office/drawing/2014/main" id="{AE77FB41-13EB-4757-BBC7-02E6D8E44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4762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FLOODLENS  /  DS 4004</a:t>
            </a:r>
          </a:p>
        </p:txBody>
      </p:sp>
      <p:sp>
        <p:nvSpPr>
          <p:cNvPr id="3" name="11">
            <a:extLst xmlns:a="http://schemas.openxmlformats.org/drawingml/2006/main">
              <a:ext uri="{FF2B5EF4-FFF2-40B4-BE49-F238E27FC236}">
                <a16:creationId xmlns:a16="http://schemas.microsoft.com/office/drawing/2014/main" id="{0AF3B2D6-F0D7-45C9-ACF0-4AFEDC7E8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87125" y="6400800"/>
            <a:ext cx="4286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1200" b="0">
                <a:solidFill>
                  <a:srgbClr val="526878"/>
                </a:solidFill>
              </a:defRPr>
            </a:pPr>
            <a:r>
              <a:rPr sz="1200" b="0">
                <a:solidFill>
                  <a:srgbClr val="526878"/>
                </a:solidFill>
              </a:rPr>
              <a:t>11</a:t>
            </a:r>
          </a:p>
        </p:txBody>
      </p:sp>
      <p:sp>
        <p:nvSpPr>
          <p:cNvPr id="4" name="What the project establishes">
            <a:extLst xmlns:a="http://schemas.openxmlformats.org/drawingml/2006/main">
              <a:ext uri="{FF2B5EF4-FFF2-40B4-BE49-F238E27FC236}">
                <a16:creationId xmlns:a16="http://schemas.microsoft.com/office/drawing/2014/main" id="{D6E83899-EC20-464D-B844-C072A3C96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What the project establishes</a:t>
            </a:r>
          </a:p>
        </p:txBody>
      </p:sp>
      <p:sp>
        <p:nvSpPr>
          <p:cNvPr id="5" name="A reproducible multi-source dataset.&#10;Seasonal">
            <a:extLst xmlns:a="http://schemas.openxmlformats.org/drawingml/2006/main">
              <a:ext uri="{FF2B5EF4-FFF2-40B4-BE49-F238E27FC236}">
                <a16:creationId xmlns:a16="http://schemas.microsoft.com/office/drawing/2014/main" id="{F4259CED-EEDC-4A1A-A4D3-4D9EC43F2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A reproducible multi-source dataset.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Seasonally contextualised extremes.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Interactive episode exploration.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An explainable API forecast outlook.</a:t>
            </a:r>
          </a:p>
        </p:txBody>
      </p:sp>
      <p:sp>
        <p:nvSpPr>
          <p:cNvPr id="6" name="What comes next">
            <a:extLst xmlns:a="http://schemas.openxmlformats.org/drawingml/2006/main">
              <a:ext uri="{FF2B5EF4-FFF2-40B4-BE49-F238E27FC236}">
                <a16:creationId xmlns:a16="http://schemas.microsoft.com/office/drawing/2014/main" id="{505891C7-67F0-423D-A854-8700EBA0D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095500"/>
            <a:ext cx="5238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400" b="1">
                <a:solidFill>
                  <a:srgbClr val="112D40"/>
                </a:solidFill>
              </a:defRPr>
            </a:pPr>
            <a:r>
              <a:rPr sz="2400" b="1">
                <a:solidFill>
                  <a:srgbClr val="112D40"/>
                </a:solidFill>
              </a:rPr>
              <a:t>What comes next</a:t>
            </a:r>
          </a:p>
        </p:txBody>
      </p:sp>
      <p:sp>
        <p:nvSpPr>
          <p:cNvPr id="7" name="Verify channel-to-grid mapping.&#10;Validate with">
            <a:extLst xmlns:a="http://schemas.openxmlformats.org/drawingml/2006/main">
              <a:ext uri="{FF2B5EF4-FFF2-40B4-BE49-F238E27FC236}">
                <a16:creationId xmlns:a16="http://schemas.microsoft.com/office/drawing/2014/main" id="{35268659-40F7-4A65-8008-F9D4C36B8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57500"/>
            <a:ext cx="523875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Verify channel-to-grid mapping.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Validate with gauges and events.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Use catchment-average rainfall.</a:t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Test operational data availability.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buNone/>
              <a:defRPr sz="2025" b="0">
                <a:solidFill>
                  <a:srgbClr val="526878"/>
                </a:solidFill>
              </a:defRPr>
            </a:pPr>
            <a:r>
              <a:rPr sz="2025" b="0">
                <a:solidFill>
                  <a:srgbClr val="526878"/>
                </a:solidFill>
              </a:rPr>
              <a:t>Research analytics, not official alerts.</a:t>
            </a:r>
          </a:p>
        </p:txBody>
      </p:sp>
    </p:spTree>
    <p:extLst>
      <p:ext uri="{BB962C8B-B14F-4D97-AF65-F5344CB8AC3E}">
        <p14:creationId xmlns:p14="http://schemas.microsoft.com/office/powerpoint/2010/main" val="125894668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2026-09-11T03:42:20.8170000Z</dcterms:created>
  <dcterms:modified xsi:type="dcterms:W3CDTF">2026-09-11T03:42:20.8170000Z</dcterms:modified>
</coreProperties>
</file>